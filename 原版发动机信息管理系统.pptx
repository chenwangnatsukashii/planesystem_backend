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73" r:id="rId6"/>
    <p:sldId id="280" r:id="rId7"/>
    <p:sldId id="274" r:id="rId8"/>
    <p:sldId id="275" r:id="rId9"/>
    <p:sldId id="276" r:id="rId10"/>
    <p:sldId id="277" r:id="rId11"/>
    <p:sldId id="279" r:id="rId12"/>
    <p:sldId id="261" r:id="rId13"/>
    <p:sldId id="281" r:id="rId14"/>
    <p:sldId id="282" r:id="rId15"/>
    <p:sldId id="286" r:id="rId16"/>
    <p:sldId id="287" r:id="rId17"/>
    <p:sldId id="262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63" r:id="rId27"/>
    <p:sldId id="283" r:id="rId28"/>
    <p:sldId id="284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81" autoAdjust="0"/>
    <p:restoredTop sz="94660"/>
  </p:normalViewPr>
  <p:slideViewPr>
    <p:cSldViewPr>
      <p:cViewPr>
        <p:scale>
          <a:sx n="100" d="100"/>
          <a:sy n="100" d="100"/>
        </p:scale>
        <p:origin x="-1716" y="-72"/>
      </p:cViewPr>
      <p:guideLst>
        <p:guide orient="horz" pos="2160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5.xml"/><Relationship Id="rId1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6.xml"/><Relationship Id="rId3" Type="http://schemas.openxmlformats.org/officeDocument/2006/relationships/slide" Target="slide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slide" Target="slide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714357"/>
            <a:ext cx="7772400" cy="5214974"/>
          </a:xfrm>
        </p:spPr>
        <p:txBody>
          <a:bodyPr/>
          <a:lstStyle/>
          <a:p>
            <a:r>
              <a:rPr lang="zh-CN" altLang="en-US" smtClean="0"/>
              <a:t>发动机</a:t>
            </a:r>
            <a:r>
              <a:rPr lang="zh-CN" altLang="en-US" smtClean="0"/>
              <a:t>信息管理  </a:t>
            </a:r>
            <a:br>
              <a:rPr lang="en-US" altLang="zh-CN" dirty="0" smtClean="0"/>
            </a:br>
            <a:br>
              <a:rPr lang="en-US" altLang="zh-CN" dirty="0" smtClean="0"/>
            </a:br>
            <a:br>
              <a:rPr lang="en-US" altLang="zh-CN" dirty="0" smtClean="0"/>
            </a:br>
            <a:r>
              <a:rPr lang="en-US" altLang="zh-CN" dirty="0" smtClean="0"/>
              <a:t>					</a:t>
            </a:r>
            <a:r>
              <a:rPr lang="zh-CN" altLang="en-US" sz="2000" dirty="0" smtClean="0"/>
              <a:t>用户名</a:t>
            </a:r>
            <a:br>
              <a:rPr lang="en-US" altLang="zh-CN" sz="2000" dirty="0" smtClean="0"/>
            </a:br>
            <a:r>
              <a:rPr lang="en-US" altLang="zh-CN" sz="2000" dirty="0" smtClean="0"/>
              <a:t>                                                                           </a:t>
            </a:r>
            <a:r>
              <a:rPr lang="zh-CN" altLang="en-US" sz="2000" dirty="0" smtClean="0"/>
              <a:t>密码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357160" y="908721"/>
          <a:ext cx="6917530" cy="385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506"/>
                <a:gridCol w="1383506"/>
                <a:gridCol w="1383506"/>
                <a:gridCol w="1383506"/>
                <a:gridCol w="1383506"/>
              </a:tblGrid>
              <a:tr h="38571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" action="ppaction://hlinkshowjump?jump=nextslide"/>
                        </a:rPr>
                        <a:t>基本信息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>
                          <a:hlinkClick r:id="rId1" action="ppaction://hlinksldjump"/>
                        </a:rPr>
                        <a:t>履历本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>
                          <a:hlinkClick r:id="rId2" action="ppaction://hlinksldjump"/>
                        </a:rPr>
                        <a:t>定期检查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57157" y="1397000"/>
          <a:ext cx="8286810" cy="4318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35"/>
                <a:gridCol w="1381135"/>
                <a:gridCol w="1381135"/>
                <a:gridCol w="1381135"/>
                <a:gridCol w="1381135"/>
                <a:gridCol w="1381135"/>
              </a:tblGrid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派工号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机型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部队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飞机号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提醒信息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搜索框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搜索框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搜索框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20RS89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</a:t>
                      </a:r>
                      <a:r>
                        <a:rPr lang="en-US" altLang="zh-CN" dirty="0" smtClean="0"/>
                        <a:t>-11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福州</a:t>
                      </a:r>
                      <a:r>
                        <a:rPr lang="en-US" altLang="zh-CN" dirty="0" smtClean="0"/>
                        <a:t>41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0414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20CL07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歼教</a:t>
                      </a:r>
                      <a:r>
                        <a:rPr lang="en-US" altLang="zh-CN" dirty="0" smtClean="0"/>
                        <a:t>-9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石家庄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0302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所有问题</a:t>
                      </a:r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20KL54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教</a:t>
                      </a:r>
                      <a:r>
                        <a:rPr lang="en-US" altLang="zh-CN" dirty="0" smtClean="0"/>
                        <a:t>-8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辽阳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0221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20JB04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歼</a:t>
                      </a:r>
                      <a:r>
                        <a:rPr lang="en-US" altLang="zh-CN" dirty="0" smtClean="0"/>
                        <a:t>-11B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普兰店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0205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</a:tr>
              <a:tr h="616859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4282" y="857232"/>
          <a:ext cx="8786874" cy="2286017"/>
        </p:xfrm>
        <a:graphic>
          <a:graphicData uri="http://schemas.openxmlformats.org/drawingml/2006/table">
            <a:tbl>
              <a:tblPr/>
              <a:tblGrid>
                <a:gridCol w="947224"/>
                <a:gridCol w="750398"/>
                <a:gridCol w="815422"/>
                <a:gridCol w="924378"/>
                <a:gridCol w="841783"/>
                <a:gridCol w="789061"/>
                <a:gridCol w="952498"/>
                <a:gridCol w="873417"/>
                <a:gridCol w="885718"/>
                <a:gridCol w="1006975"/>
              </a:tblGrid>
              <a:tr h="33869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815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在部队编号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飞机机号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0214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2003.12.30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62170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959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2021.05.25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兰州基地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94136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修理日期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2016.05.27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当量飞行小时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3417.13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153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3300:00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4:13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3295:47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2708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06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日历规定时限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25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剩余日历期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已使用日历期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4285" y="3286124"/>
          <a:ext cx="8801974" cy="2990833"/>
        </p:xfrm>
        <a:graphic>
          <a:graphicData uri="http://schemas.openxmlformats.org/drawingml/2006/table">
            <a:tbl>
              <a:tblPr/>
              <a:tblGrid>
                <a:gridCol w="254820"/>
                <a:gridCol w="701543"/>
                <a:gridCol w="347610"/>
                <a:gridCol w="289966"/>
                <a:gridCol w="428800"/>
                <a:gridCol w="174736"/>
                <a:gridCol w="193433"/>
                <a:gridCol w="259215"/>
                <a:gridCol w="123416"/>
                <a:gridCol w="574261"/>
                <a:gridCol w="709264"/>
                <a:gridCol w="84627"/>
                <a:gridCol w="655227"/>
                <a:gridCol w="597507"/>
                <a:gridCol w="403757"/>
                <a:gridCol w="118183"/>
                <a:gridCol w="574662"/>
                <a:gridCol w="308419"/>
                <a:gridCol w="238123"/>
                <a:gridCol w="442859"/>
                <a:gridCol w="320282"/>
                <a:gridCol w="271953"/>
                <a:gridCol w="729311"/>
              </a:tblGrid>
              <a:tr h="221082">
                <a:tc gridSpan="2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АЛ</a:t>
                      </a:r>
                      <a:r>
                        <a:rPr lang="en-US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-31</a:t>
                      </a:r>
                      <a:r>
                        <a:rPr lang="zh-CN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Ф</a:t>
                      </a:r>
                      <a:r>
                        <a:rPr lang="en-US" sz="8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092403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8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大修后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黑体" panose="02010609060101010101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状态加力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Б状态加力剩余寿命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起动剩余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Б＋УБ主循环次数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Б主循环次数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工厂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4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30109911223563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年</a:t>
                      </a: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个月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1103:56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500:00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395:25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61:23:47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28:51:51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672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87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>
                          <a:latin typeface="Times New Roman" panose="02020603050405020304"/>
                          <a:cs typeface="Times New Roman" panose="02020603050405020304"/>
                        </a:rPr>
                        <a:t>26</a:t>
                      </a:r>
                      <a:endParaRPr lang="zh-CN" sz="70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5719</a:t>
                      </a:r>
                      <a:r>
                        <a:rPr lang="zh-CN" sz="700" spc="-50" dirty="0">
                          <a:solidFill>
                            <a:srgbClr val="FF0000"/>
                          </a:solidFill>
                          <a:latin typeface="Calibri" panose="020F0502020204030204"/>
                          <a:cs typeface="Times New Roman" panose="02020603050405020304"/>
                        </a:rPr>
                        <a:t>厂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2020.08.28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4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30109931523951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年</a:t>
                      </a: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lang="zh-CN" sz="700" spc="-50" dirty="0">
                          <a:latin typeface="Calibri" panose="020F0502020204030204"/>
                          <a:cs typeface="Times New Roman" panose="02020603050405020304"/>
                        </a:rPr>
                        <a:t>个月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829:18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500:00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170:27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18:56:48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26:53:20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336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endParaRPr lang="zh-CN" sz="700" dirty="0"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5719</a:t>
                      </a:r>
                      <a:r>
                        <a:rPr lang="zh-CN" sz="700" spc="-50" dirty="0">
                          <a:solidFill>
                            <a:srgbClr val="FF0000"/>
                          </a:solidFill>
                          <a:latin typeface="Calibri" panose="020F0502020204030204"/>
                          <a:cs typeface="Times New Roman" panose="02020603050405020304"/>
                        </a:rPr>
                        <a:t>厂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7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2019.10.09</a:t>
                      </a:r>
                      <a:endParaRPr lang="zh-CN" sz="700" dirty="0">
                        <a:solidFill>
                          <a:srgbClr val="FF0000"/>
                        </a:solidFill>
                        <a:latin typeface="Calibri" panose="020F0502020204030204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6058">
                <a:tc rowSpan="2" gridSpan="4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发动机九级篦齿盘涡流探最近一</a:t>
                      </a: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次间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2021.04.18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探伤后</a:t>
                      </a: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飞行左</a:t>
                      </a: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3:04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距下次探伤左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21</a:t>
                      </a:r>
                      <a:r>
                        <a:rPr lang="zh-CN" altLang="en-US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56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</a:tr>
              <a:tr h="156058">
                <a:tc vMerge="1" gridSpan="4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2021.04.18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2">
                  <a:tcPr/>
                </a:tc>
                <a:tc vMerge="1" hMerge="1">
                  <a:tcPr/>
                </a:tc>
              </a:tr>
              <a:tr h="228600">
                <a:tc rowSpan="2" gridSpan="2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左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ВНИИНП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50-1-4</a:t>
                      </a: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Ф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 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油封日期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8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2022.01.09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探伤后飞行</a:t>
                      </a: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右发</a:t>
                      </a:r>
                      <a:endParaRPr lang="zh-CN" altLang="zh-CN" sz="7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3:00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距下次探伤右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 rowSpan="2" hMerge="1">
                  <a:tcPr/>
                </a:tc>
                <a:tc rowSpan="2" gridSpan="2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22</a:t>
                      </a:r>
                      <a:r>
                        <a:rPr lang="zh-CN" altLang="en-US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7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00</a:t>
                      </a:r>
                      <a:endParaRPr lang="zh-CN" sz="7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</a:tr>
              <a:tr h="228600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ВНИИНП</a:t>
                      </a: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50-1-4</a:t>
                      </a:r>
                      <a:r>
                        <a:rPr lang="zh-CN" altLang="zh-CN" sz="700" kern="1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Ф</a:t>
                      </a:r>
                      <a:endParaRPr lang="zh-CN" altLang="zh-CN" sz="700" kern="1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7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油封日期</a:t>
                      </a:r>
                      <a:endParaRPr lang="zh-CN" sz="7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2021.01-09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8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7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2022.01.09</a:t>
                      </a:r>
                      <a:endParaRPr lang="zh-CN" sz="7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46817" marR="468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 vMerge="1" gridSpan="2">
                  <a:tcPr/>
                </a:tc>
                <a:tc vMerge="1" hMerge="1"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3712" y="8400"/>
          <a:ext cx="85725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40"/>
                <a:gridCol w="2143140"/>
                <a:gridCol w="2143140"/>
                <a:gridCol w="214314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" action="ppaction://hlinkshowjump?jump=nextslide"/>
                        </a:rPr>
                        <a:t>新建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修改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退出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6200" y="404664"/>
          <a:ext cx="6096000" cy="370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3" action="ppaction://hlinksldjump"/>
                        </a:rPr>
                        <a:t>歼</a:t>
                      </a:r>
                      <a:r>
                        <a:rPr lang="en-US" altLang="zh-CN" dirty="0" smtClean="0">
                          <a:hlinkClick r:id="rId3" action="ppaction://hlinksldjump"/>
                        </a:rPr>
                        <a:t>-11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4" action="ppaction://hlinksldjump"/>
                        </a:rPr>
                        <a:t>歼</a:t>
                      </a:r>
                      <a:r>
                        <a:rPr lang="en-US" altLang="zh-CN" dirty="0" smtClean="0">
                          <a:hlinkClick r:id="rId4" action="ppaction://hlinksldjump"/>
                        </a:rPr>
                        <a:t>-11B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5" action="ppaction://hlinksldjump"/>
                        </a:rPr>
                        <a:t>歼教</a:t>
                      </a:r>
                      <a:r>
                        <a:rPr lang="en-US" altLang="zh-CN" dirty="0" smtClean="0">
                          <a:hlinkClick r:id="rId5" action="ppaction://hlinksldjump"/>
                        </a:rPr>
                        <a:t>-9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6" action="ppaction://hlinksldjump"/>
                        </a:rPr>
                        <a:t>教</a:t>
                      </a:r>
                      <a:r>
                        <a:rPr lang="en-US" altLang="zh-CN" dirty="0" smtClean="0">
                          <a:hlinkClick r:id="rId6" action="ppaction://hlinksldjump"/>
                        </a:rPr>
                        <a:t>-8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3" y="142852"/>
          <a:ext cx="8866329" cy="2619238"/>
        </p:xfrm>
        <a:graphic>
          <a:graphicData uri="http://schemas.openxmlformats.org/drawingml/2006/table">
            <a:tbl>
              <a:tblPr/>
              <a:tblGrid>
                <a:gridCol w="256892"/>
                <a:gridCol w="698035"/>
                <a:gridCol w="521459"/>
                <a:gridCol w="173034"/>
                <a:gridCol w="639570"/>
                <a:gridCol w="663782"/>
                <a:gridCol w="117521"/>
                <a:gridCol w="680319"/>
                <a:gridCol w="678546"/>
                <a:gridCol w="161223"/>
                <a:gridCol w="783075"/>
                <a:gridCol w="532088"/>
                <a:gridCol w="164174"/>
                <a:gridCol w="604136"/>
                <a:gridCol w="623625"/>
                <a:gridCol w="92464"/>
                <a:gridCol w="691539"/>
                <a:gridCol w="784847"/>
              </a:tblGrid>
              <a:tr h="316693">
                <a:tc gridSpan="18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sz="12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ВКА</a:t>
                      </a:r>
                      <a:r>
                        <a:rPr lang="ru-RU" sz="1200" u="sng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外置机匣基本情况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4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大修后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Б＋УБ状态加力剩余寿命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Б状态加力剩余寿命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翻修制造厂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最后一次交付日期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827:19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500:00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23:41:12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26:47:06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2017.12.22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2014.06.27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886:02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500:00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9:57:18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26:00:31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263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2017.11.15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2011.12.21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滑油型号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2844" y="3429000"/>
          <a:ext cx="8971328" cy="2954446"/>
        </p:xfrm>
        <a:graphic>
          <a:graphicData uri="http://schemas.openxmlformats.org/drawingml/2006/table">
            <a:tbl>
              <a:tblPr/>
              <a:tblGrid>
                <a:gridCol w="256891"/>
                <a:gridCol w="1219494"/>
                <a:gridCol w="92236"/>
                <a:gridCol w="797249"/>
                <a:gridCol w="663782"/>
                <a:gridCol w="284057"/>
                <a:gridCol w="837996"/>
                <a:gridCol w="354333"/>
                <a:gridCol w="217915"/>
                <a:gridCol w="1258471"/>
                <a:gridCol w="92236"/>
                <a:gridCol w="898232"/>
                <a:gridCol w="503984"/>
                <a:gridCol w="293265"/>
                <a:gridCol w="1201187"/>
              </a:tblGrid>
              <a:tr h="305137">
                <a:tc gridSpan="15">
                  <a:txBody>
                    <a:bodyPr/>
                    <a:lstStyle/>
                    <a:p>
                      <a:pPr marL="914400" indent="-914400" algn="just">
                        <a:spcAft>
                          <a:spcPts val="0"/>
                        </a:spcAft>
                      </a:pPr>
                      <a:r>
                        <a:rPr lang="ru-RU" sz="1200" u="sng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Г Т Д Э </a:t>
                      </a:r>
                      <a:r>
                        <a:rPr lang="ru-RU" sz="12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-117-1-0</a:t>
                      </a:r>
                      <a:r>
                        <a:rPr lang="ru-RU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92346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黑体" panose="02010609060101010101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已使用总寿命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翻修后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剩余寿命（次）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翻修制造厂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最后一次修理交付日期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R="151765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4203250110084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1253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1750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1591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5701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2016.12.20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2001.10.29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R="151765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4203250411170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2127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1750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370</a:t>
                      </a:r>
                      <a:r>
                        <a:rPr lang="zh-CN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2018.10.11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2004.11.18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321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滑油型号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油封日期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Times New Roman" panose="02020603050405020304"/>
                        </a:rPr>
                        <a:t>油封期限</a:t>
                      </a:r>
                      <a:endParaRPr lang="zh-CN" altLang="zh-CN" sz="1000" kern="100" dirty="0" smtClean="0">
                        <a:solidFill>
                          <a:srgbClr val="7030A0"/>
                        </a:solidFill>
                        <a:latin typeface="+mn-lt"/>
                        <a:ea typeface="+mn-ea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66836" marR="668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2" y="142852"/>
          <a:ext cx="7500991" cy="2149787"/>
        </p:xfrm>
        <a:graphic>
          <a:graphicData uri="http://schemas.openxmlformats.org/drawingml/2006/table">
            <a:tbl>
              <a:tblPr/>
              <a:tblGrid>
                <a:gridCol w="636423"/>
                <a:gridCol w="1729309"/>
                <a:gridCol w="1729309"/>
                <a:gridCol w="1720531"/>
                <a:gridCol w="1685419"/>
              </a:tblGrid>
              <a:tr h="316693">
                <a:tc gridSpan="5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altLang="en-US" sz="1200" u="sng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综合调节器</a:t>
                      </a:r>
                      <a:r>
                        <a:rPr lang="zh-CN" sz="12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基本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4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43" y="214290"/>
          <a:ext cx="8715436" cy="2006600"/>
        </p:xfrm>
        <a:graphic>
          <a:graphicData uri="http://schemas.openxmlformats.org/drawingml/2006/table">
            <a:tbl>
              <a:tblPr/>
              <a:tblGrid>
                <a:gridCol w="1004018"/>
                <a:gridCol w="822737"/>
                <a:gridCol w="883745"/>
                <a:gridCol w="883745"/>
                <a:gridCol w="965671"/>
                <a:gridCol w="1044110"/>
                <a:gridCol w="965671"/>
                <a:gridCol w="723381"/>
                <a:gridCol w="721638"/>
                <a:gridCol w="700720"/>
              </a:tblGrid>
              <a:tr h="323850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29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-11B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飞机制造号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0229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制造厂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沈阳飞机工业（集团）有限公司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2009.12.31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2020.07.25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部队名称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大连基地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89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93069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部队驻地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普兰店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飞机在部队编号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70202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从开始使用飞行时间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2191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55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最近一次翻修后飞行时间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995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从开始使用起落次数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1616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最近一次翻修后起落次数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720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已大修次数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规定使用寿命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1000</a:t>
                      </a: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飞行小时，</a:t>
                      </a:r>
                      <a:r>
                        <a:rPr lang="en-US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</a:t>
                      </a:r>
                      <a:r>
                        <a:rPr lang="zh-CN" sz="105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黑体" panose="02010609060101010101" charset="-122"/>
                          <a:cs typeface="Times New Roman" panose="02020603050405020304"/>
                        </a:rPr>
                        <a:t>进厂时飞机剩余寿命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小时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分，</a:t>
                      </a: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最近一次大修出厂日期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2017.07.27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最近一次大修工厂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5720</a:t>
                      </a:r>
                      <a:r>
                        <a:rPr lang="zh-CN" sz="105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50" kern="100" dirty="0">
                        <a:solidFill>
                          <a:srgbClr val="7030A0"/>
                        </a:solidFill>
                        <a:latin typeface="黑体" panose="02010609060101010101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50" kern="100" dirty="0">
                        <a:solidFill>
                          <a:srgbClr val="FF000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2843" y="2357430"/>
          <a:ext cx="8786876" cy="3103685"/>
        </p:xfrm>
        <a:graphic>
          <a:graphicData uri="http://schemas.openxmlformats.org/drawingml/2006/table">
            <a:tbl>
              <a:tblPr/>
              <a:tblGrid>
                <a:gridCol w="264083"/>
                <a:gridCol w="762519"/>
                <a:gridCol w="563146"/>
                <a:gridCol w="564896"/>
                <a:gridCol w="729289"/>
                <a:gridCol w="484446"/>
                <a:gridCol w="643595"/>
                <a:gridCol w="381464"/>
                <a:gridCol w="263881"/>
                <a:gridCol w="564896"/>
                <a:gridCol w="403998"/>
                <a:gridCol w="890190"/>
                <a:gridCol w="725793"/>
                <a:gridCol w="804494"/>
                <a:gridCol w="740186"/>
              </a:tblGrid>
              <a:tr h="154523">
                <a:tc gridSpan="1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8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FWS10 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389114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800" kern="10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作战状态剩余工作时间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59690"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中间以上状态剩余工作时间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作战状态的中间以上状态剩余工作时间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剩余工作时间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最近一次翻修工厂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最近一次翻修验收日期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造）工厂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8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2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31S1009091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1032:08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134:41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2024.12.02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82:37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39:11:21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16:54:51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165:19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5719</a:t>
                      </a:r>
                      <a:r>
                        <a:rPr lang="zh-CN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2019.12.02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7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2009.11.19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5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31S1008037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711:22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113:12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2021.11.04</a:t>
                      </a:r>
                      <a:endParaRPr lang="zh-CN" sz="8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86:13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43:24:35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17:29:40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186:48</a:t>
                      </a:r>
                      <a:endParaRPr lang="zh-CN" sz="8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8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7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2016.11.04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7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沈阳黎明航空发动机有限责任公司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8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2010.08.24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819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发动机滑油牌号左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7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8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4050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1915">
                <a:tc gridSpan="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8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发动机滑油牌号右</a:t>
                      </a:r>
                      <a:endParaRPr lang="zh-CN" sz="8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8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                                                                                4050</a:t>
                      </a:r>
                      <a:endParaRPr lang="zh-CN" sz="8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52951" marR="529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504" y="116632"/>
          <a:ext cx="8644000" cy="2173753"/>
        </p:xfrm>
        <a:graphic>
          <a:graphicData uri="http://schemas.openxmlformats.org/drawingml/2006/table">
            <a:tbl>
              <a:tblPr/>
              <a:tblGrid>
                <a:gridCol w="261048"/>
                <a:gridCol w="912807"/>
                <a:gridCol w="876501"/>
                <a:gridCol w="874772"/>
                <a:gridCol w="558403"/>
                <a:gridCol w="796976"/>
                <a:gridCol w="558403"/>
                <a:gridCol w="1115076"/>
                <a:gridCol w="715724"/>
                <a:gridCol w="1191143"/>
                <a:gridCol w="783147"/>
              </a:tblGrid>
              <a:tr h="277848">
                <a:tc gridSpan="11">
                  <a:txBody>
                    <a:bodyPr/>
                    <a:lstStyle/>
                    <a:p>
                      <a:pPr marL="818515" indent="-666750" algn="just">
                        <a:spcAft>
                          <a:spcPts val="0"/>
                        </a:spcAft>
                      </a:pPr>
                      <a:r>
                        <a:rPr lang="ru-RU" sz="10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JJX-1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外置机匣基本情况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237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kern="100" dirty="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最近一次翻修工厂</a:t>
                      </a:r>
                      <a:endParaRPr lang="zh-CN" sz="100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最近一次翻修验收日期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JJX-1161084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897:49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398:38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101:22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2026.05.17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2017.01.10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2019.05.17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1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JJX-116968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769:35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270:34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229:26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2025.12.12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2016.07.08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中国航发哈尔滨东安发动机有限公司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2018.12.12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7504" y="2924944"/>
          <a:ext cx="8715434" cy="2043369"/>
        </p:xfrm>
        <a:graphic>
          <a:graphicData uri="http://schemas.openxmlformats.org/drawingml/2006/table">
            <a:tbl>
              <a:tblPr/>
              <a:tblGrid>
                <a:gridCol w="263206"/>
                <a:gridCol w="1004017"/>
                <a:gridCol w="643199"/>
                <a:gridCol w="963928"/>
                <a:gridCol w="882002"/>
                <a:gridCol w="803563"/>
                <a:gridCol w="723381"/>
                <a:gridCol w="803563"/>
                <a:gridCol w="803563"/>
                <a:gridCol w="1045852"/>
                <a:gridCol w="779160"/>
              </a:tblGrid>
              <a:tr h="227836">
                <a:tc gridSpan="11">
                  <a:txBody>
                    <a:bodyPr/>
                    <a:lstStyle/>
                    <a:p>
                      <a:pPr marL="800100" indent="-800100" algn="just">
                        <a:spcAft>
                          <a:spcPts val="0"/>
                        </a:spcAft>
                      </a:pPr>
                      <a:r>
                        <a:rPr lang="en-US" sz="900" u="sng" kern="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WQ66B</a:t>
                      </a: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起动机基本情况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646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900" kern="100">
                        <a:solidFill>
                          <a:srgbClr val="7030A0"/>
                        </a:solidFill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总起动次数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最近一次翻修后起动次数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剩余起动次数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日历期限到期日期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制造工厂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制造验收日期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最近一次翻修工厂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最近一次翻修验收日期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左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21Q66B160387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1607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143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2024.11.22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中国南方航空工业有限公司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2016.11.22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54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900" kern="10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右</a:t>
                      </a:r>
                      <a:endParaRPr lang="zh-CN" sz="9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21Q66B170560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1352</a:t>
                      </a:r>
                      <a:endParaRPr lang="zh-CN" sz="9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398</a:t>
                      </a:r>
                      <a:endParaRPr lang="zh-CN" sz="9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2025.12.06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中国南方航空工业有限公司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en-US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2017.12.06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0" indent="-800100" algn="ctr">
                        <a:spcAft>
                          <a:spcPts val="0"/>
                        </a:spcAft>
                      </a:pPr>
                      <a:r>
                        <a:rPr lang="zh-CN" sz="9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未翻修过</a:t>
                      </a:r>
                      <a:endParaRPr lang="zh-CN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0994" marR="609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42842" y="142852"/>
          <a:ext cx="7500991" cy="2149787"/>
        </p:xfrm>
        <a:graphic>
          <a:graphicData uri="http://schemas.openxmlformats.org/drawingml/2006/table">
            <a:tbl>
              <a:tblPr/>
              <a:tblGrid>
                <a:gridCol w="636423"/>
                <a:gridCol w="1729309"/>
                <a:gridCol w="1729309"/>
                <a:gridCol w="1720531"/>
                <a:gridCol w="1685419"/>
              </a:tblGrid>
              <a:tr h="316693">
                <a:tc gridSpan="5">
                  <a:txBody>
                    <a:bodyPr/>
                    <a:lstStyle/>
                    <a:p>
                      <a:pPr marL="913765" indent="-762000" algn="just">
                        <a:spcAft>
                          <a:spcPts val="0"/>
                        </a:spcAft>
                      </a:pPr>
                      <a:r>
                        <a:rPr lang="zh-CN" altLang="en-US" sz="1200" u="sng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综合调节器</a:t>
                      </a:r>
                      <a:r>
                        <a:rPr lang="zh-CN" sz="12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基本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894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   </a:t>
                      </a: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剩余日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左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У142023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7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171:57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4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右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У114065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113:08</a:t>
                      </a:r>
                      <a:endParaRPr lang="zh-CN" sz="100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7064" marR="670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57158" y="285728"/>
          <a:ext cx="8286809" cy="2214579"/>
        </p:xfrm>
        <a:graphic>
          <a:graphicData uri="http://schemas.openxmlformats.org/drawingml/2006/table">
            <a:tbl>
              <a:tblPr/>
              <a:tblGrid>
                <a:gridCol w="714323"/>
                <a:gridCol w="755756"/>
                <a:gridCol w="878402"/>
                <a:gridCol w="979502"/>
                <a:gridCol w="967899"/>
                <a:gridCol w="651343"/>
                <a:gridCol w="969556"/>
                <a:gridCol w="682834"/>
                <a:gridCol w="957955"/>
                <a:gridCol w="729239"/>
              </a:tblGrid>
              <a:tr h="68158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歼教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-9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2011.12.26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0302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机头号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1039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2020.07.15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哈尔滨飞行学院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1095:18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本次使用寿命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4:42</a:t>
                      </a:r>
                      <a:endParaRPr lang="zh-CN" sz="105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1907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本次起落次数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规定使用时限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1100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00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部队番号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93318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57157" y="2857497"/>
          <a:ext cx="8215372" cy="1655296"/>
        </p:xfrm>
        <a:graphic>
          <a:graphicData uri="http://schemas.openxmlformats.org/drawingml/2006/table">
            <a:tbl>
              <a:tblPr/>
              <a:tblGrid>
                <a:gridCol w="1002476"/>
                <a:gridCol w="1326226"/>
                <a:gridCol w="701733"/>
                <a:gridCol w="746105"/>
                <a:gridCol w="654076"/>
                <a:gridCol w="856213"/>
                <a:gridCol w="856213"/>
                <a:gridCol w="1012336"/>
                <a:gridCol w="1059994"/>
              </a:tblGrid>
              <a:tr h="477621">
                <a:tc gridSpan="9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4254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进厂时剩余工作时间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50" kern="10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规定使用时限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7030A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进厂时最近一次翻修后工作时间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制造、大修后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5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1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涡喷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-13F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</a:t>
                      </a:r>
                      <a:r>
                        <a:rPr lang="zh-CN" sz="12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15P13F(C)160141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21:17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278:43</a:t>
                      </a:r>
                      <a:endParaRPr lang="zh-CN" sz="105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（检修）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105</a:t>
                      </a: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84</a:t>
                      </a:r>
                      <a:r>
                        <a:rPr lang="zh-CN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sz="1050" kern="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02</a:t>
                      </a:r>
                      <a:endParaRPr lang="zh-CN" sz="1050" kern="100" dirty="0">
                        <a:solidFill>
                          <a:schemeClr val="tx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黎阳航空动力有限公司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2020.04.24</a:t>
                      </a:r>
                      <a:endParaRPr lang="zh-CN" sz="105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28596" y="214290"/>
          <a:ext cx="8143931" cy="2286016"/>
        </p:xfrm>
        <a:graphic>
          <a:graphicData uri="http://schemas.openxmlformats.org/drawingml/2006/table">
            <a:tbl>
              <a:tblPr/>
              <a:tblGrid>
                <a:gridCol w="659658"/>
                <a:gridCol w="843711"/>
                <a:gridCol w="873030"/>
                <a:gridCol w="960984"/>
                <a:gridCol w="960984"/>
                <a:gridCol w="612423"/>
                <a:gridCol w="964242"/>
                <a:gridCol w="671059"/>
                <a:gridCol w="944696"/>
                <a:gridCol w="653144"/>
              </a:tblGrid>
              <a:tr h="481612">
                <a:tc gridSpan="10">
                  <a:txBody>
                    <a:bodyPr/>
                    <a:lstStyle/>
                    <a:p>
                      <a:pPr algn="just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452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飞机型别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教</a:t>
                      </a: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-8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2005.04.18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0632018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机头号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1333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垂尾编号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9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2020.09.18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送修单位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哈尔滨飞行学院</a:t>
                      </a: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旅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3779:54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本次使用寿命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1795:57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2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4:03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总起落次数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10425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本次起落次数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4481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规定使用时限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1800:00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7030A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596" y="2643182"/>
          <a:ext cx="8223741" cy="1870032"/>
        </p:xfrm>
        <a:graphic>
          <a:graphicData uri="http://schemas.openxmlformats.org/drawingml/2006/table">
            <a:tbl>
              <a:tblPr/>
              <a:tblGrid>
                <a:gridCol w="759099"/>
                <a:gridCol w="287961"/>
                <a:gridCol w="719243"/>
                <a:gridCol w="856041"/>
                <a:gridCol w="699949"/>
                <a:gridCol w="699949"/>
                <a:gridCol w="624527"/>
                <a:gridCol w="854398"/>
                <a:gridCol w="706522"/>
                <a:gridCol w="1015420"/>
                <a:gridCol w="1000632"/>
              </a:tblGrid>
              <a:tr h="323075">
                <a:tc gridSpan="1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发动机基本情况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29768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日历时限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已使用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总寿命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翻修后工作时间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8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（大修后）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剩余寿命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制造、大修后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1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FWS11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21S11060253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个月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1956:36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523:08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r>
                        <a:rPr lang="zh-CN" sz="1000" kern="100" spc="-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750:00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6</a:t>
                      </a: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226:52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中国南方航空动力机械公司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2017.12.02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 gridSpan="2">
                  <a:txBody>
                    <a:bodyPr/>
                    <a:lstStyle/>
                    <a:p>
                      <a:pPr marL="800100" indent="-5334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重要</a:t>
                      </a:r>
                      <a:r>
                        <a:rPr lang="zh-CN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提示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9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416" marR="684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7158" y="4786322"/>
          <a:ext cx="8286808" cy="1588768"/>
        </p:xfrm>
        <a:graphic>
          <a:graphicData uri="http://schemas.openxmlformats.org/drawingml/2006/table">
            <a:tbl>
              <a:tblPr/>
              <a:tblGrid>
                <a:gridCol w="765701"/>
                <a:gridCol w="208781"/>
                <a:gridCol w="749174"/>
                <a:gridCol w="871772"/>
                <a:gridCol w="870115"/>
                <a:gridCol w="792218"/>
                <a:gridCol w="1131978"/>
                <a:gridCol w="863486"/>
                <a:gridCol w="1024249"/>
                <a:gridCol w="1009334"/>
              </a:tblGrid>
              <a:tr h="283799">
                <a:tc gridSpan="10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空气发生器基本情况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5881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型号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号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码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进厂时总起动次数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翻修后起动次数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已翻修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8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（大修后）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规定起动次数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剩余起动次数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spc="-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大修（制造）工厂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黑体" panose="02010609060101010101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制造、翻修后</a:t>
                      </a:r>
                      <a:r>
                        <a:rPr lang="en-US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)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出厂日期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SAPHIR 5C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0180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4489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1504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sz="10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次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2000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496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5713</a:t>
                      </a:r>
                      <a:r>
                        <a:rPr lang="zh-CN" sz="1000" kern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厂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2014.10.12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3075">
                <a:tc gridSpan="2">
                  <a:txBody>
                    <a:bodyPr/>
                    <a:lstStyle/>
                    <a:p>
                      <a:pPr marL="800100" indent="-533400" algn="just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重要</a:t>
                      </a:r>
                      <a:r>
                        <a:rPr lang="zh-CN" sz="1000" kern="100" dirty="0" smtClean="0">
                          <a:solidFill>
                            <a:srgbClr val="7030A0"/>
                          </a:solidFill>
                          <a:latin typeface="Calibri" panose="020F0502020204030204"/>
                          <a:ea typeface="黑体" panose="02010609060101010101" charset="-122"/>
                          <a:cs typeface="Times New Roman" panose="02020603050405020304"/>
                        </a:rPr>
                        <a:t>提示</a:t>
                      </a:r>
                      <a:endParaRPr lang="zh-CN" sz="1000" kern="100" dirty="0">
                        <a:solidFill>
                          <a:srgbClr val="7030A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8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68416" marR="6841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28597" y="357166"/>
          <a:ext cx="53675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180"/>
                <a:gridCol w="1789180"/>
                <a:gridCol w="1789180"/>
              </a:tblGrid>
              <a:tr h="551554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hlinkClick r:id="rId1" action="ppaction://hlinksldjump"/>
                        </a:rPr>
                        <a:t>履历本填写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打印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选择方式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数据来源</a:t>
                      </a:r>
                      <a:r>
                        <a:rPr lang="en-US" altLang="zh-CN" dirty="0" smtClean="0"/>
                        <a:t>)</a:t>
                      </a:r>
                      <a:endParaRPr lang="en-US" altLang="zh-CN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95536" y="980728"/>
          <a:ext cx="856895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119"/>
                <a:gridCol w="1071119"/>
                <a:gridCol w="1071119"/>
                <a:gridCol w="1071119"/>
                <a:gridCol w="1071119"/>
                <a:gridCol w="1071119"/>
                <a:gridCol w="990110"/>
                <a:gridCol w="1152128"/>
              </a:tblGrid>
              <a:tr h="3600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飞机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左发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左机匣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右机匣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左小发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右小发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随机时间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543" y="1412776"/>
          <a:ext cx="8695308" cy="3733736"/>
        </p:xfrm>
        <a:graphic>
          <a:graphicData uri="http://schemas.openxmlformats.org/drawingml/2006/table">
            <a:tbl>
              <a:tblPr/>
              <a:tblGrid>
                <a:gridCol w="753740"/>
                <a:gridCol w="553012"/>
                <a:gridCol w="637017"/>
                <a:gridCol w="637017"/>
                <a:gridCol w="565265"/>
                <a:gridCol w="548629"/>
                <a:gridCol w="642942"/>
                <a:gridCol w="642942"/>
                <a:gridCol w="642942"/>
                <a:gridCol w="642942"/>
                <a:gridCol w="714380"/>
                <a:gridCol w="571504"/>
                <a:gridCol w="571504"/>
                <a:gridCol w="571472"/>
              </a:tblGrid>
              <a:tr h="609589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发动机地面和飞行工作持续时间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发动机飞行工作持续时间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发动机全部状态工作累计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主循环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0-M-0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履历本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主管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签字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7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/>
                </a:tc>
              </a:tr>
              <a:tr h="45465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14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2020.12.15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1:20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1:05</a:t>
                      </a: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r>
                        <a:rPr lang="zh-CN" altLang="en-US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9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08</a:t>
                      </a: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FF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小结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7546" y="5594134"/>
          <a:ext cx="8655598" cy="1114968"/>
        </p:xfrm>
        <a:graphic>
          <a:graphicData uri="http://schemas.openxmlformats.org/drawingml/2006/table">
            <a:tbl>
              <a:tblPr/>
              <a:tblGrid>
                <a:gridCol w="768526"/>
                <a:gridCol w="549217"/>
                <a:gridCol w="632646"/>
                <a:gridCol w="632646"/>
                <a:gridCol w="561386"/>
                <a:gridCol w="544864"/>
                <a:gridCol w="638530"/>
                <a:gridCol w="638530"/>
                <a:gridCol w="638530"/>
                <a:gridCol w="638530"/>
                <a:gridCol w="709478"/>
                <a:gridCol w="567582"/>
                <a:gridCol w="567582"/>
                <a:gridCol w="567551"/>
              </a:tblGrid>
              <a:tr h="436889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20210718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16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16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16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857232"/>
          <a:ext cx="9001155" cy="4089360"/>
        </p:xfrm>
        <a:graphic>
          <a:graphicData uri="http://schemas.openxmlformats.org/drawingml/2006/table">
            <a:tbl>
              <a:tblPr/>
              <a:tblGrid>
                <a:gridCol w="668606"/>
                <a:gridCol w="477810"/>
                <a:gridCol w="550392"/>
                <a:gridCol w="550392"/>
                <a:gridCol w="488397"/>
                <a:gridCol w="474023"/>
                <a:gridCol w="555511"/>
                <a:gridCol w="555511"/>
                <a:gridCol w="555511"/>
                <a:gridCol w="1553235"/>
                <a:gridCol w="1090431"/>
                <a:gridCol w="493788"/>
                <a:gridCol w="493788"/>
                <a:gridCol w="493760"/>
              </a:tblGrid>
              <a:tr h="609589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发动机地面和飞行工作持续时间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发动机全部状态工作累计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主循环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0-M-0</a:t>
                      </a: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履历本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主管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签字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37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vMerge="1">
                  <a:tcPr/>
                </a:tc>
              </a:tr>
              <a:tr h="45465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14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3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××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正常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上次十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（四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上次十一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四舍五入</a:t>
                      </a:r>
                      <a:endParaRPr lang="zh-CN" altLang="zh-CN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五）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/5+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五</a:t>
                      </a:r>
                      <a:r>
                        <a:rPr lang="en-US" altLang="zh-CN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上次十</a:t>
                      </a:r>
                      <a:endParaRPr lang="zh-CN" altLang="zh-CN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余数写在三右上方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同理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数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altLang="zh-CN" sz="1000" kern="100" dirty="0" smtClean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（三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-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五）凑</a:t>
                      </a: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</a:t>
                      </a: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的倍数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凑整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最大加力是分钟的没有秒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59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小结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算出在场内的总时间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算出所有工作的总时间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1560" y="4941167"/>
          <a:ext cx="8352929" cy="1784927"/>
        </p:xfrm>
        <a:graphic>
          <a:graphicData uri="http://schemas.openxmlformats.org/drawingml/2006/table">
            <a:tbl>
              <a:tblPr/>
              <a:tblGrid>
                <a:gridCol w="1123959"/>
                <a:gridCol w="1123959"/>
                <a:gridCol w="1123959"/>
                <a:gridCol w="1241472"/>
                <a:gridCol w="1241472"/>
                <a:gridCol w="1249054"/>
                <a:gridCol w="1249054"/>
              </a:tblGrid>
              <a:tr h="311751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9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最后修理之后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从开始使用总和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3792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冷转油封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启封次数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冷转油封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1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启封次数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51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XXXX.XX.XX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551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7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XXXX.XX.XX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FF000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</a:t>
                      </a:r>
                      <a:endParaRPr lang="zh-CN" sz="1000" kern="100" dirty="0">
                        <a:solidFill>
                          <a:srgbClr val="FF000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554</a:t>
                      </a:r>
                      <a:endParaRPr lang="zh-CN" sz="1000" kern="10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0415" y="260648"/>
          <a:ext cx="8928994" cy="4550178"/>
        </p:xfrm>
        <a:graphic>
          <a:graphicData uri="http://schemas.openxmlformats.org/drawingml/2006/table">
            <a:tbl>
              <a:tblPr/>
              <a:tblGrid>
                <a:gridCol w="793899"/>
                <a:gridCol w="567350"/>
                <a:gridCol w="653532"/>
                <a:gridCol w="653532"/>
                <a:gridCol w="579920"/>
                <a:gridCol w="562852"/>
                <a:gridCol w="659611"/>
                <a:gridCol w="659611"/>
                <a:gridCol w="659611"/>
                <a:gridCol w="1844303"/>
                <a:gridCol w="1294773"/>
              </a:tblGrid>
              <a:tr h="578007"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期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起动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次数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和飞行工作持续时间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飞行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工作持续时间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м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ф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状态工作按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spc="-7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外置机匣</a:t>
                      </a:r>
                      <a:r>
                        <a:rPr lang="zh-CN" sz="9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全部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状态工作累计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地面工作按</a:t>
                      </a:r>
                      <a:r>
                        <a:rPr lang="en-US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％考虑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 （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en-US" sz="900" kern="100" spc="-2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,</a:t>
                      </a:r>
                      <a:r>
                        <a:rPr lang="en-US" sz="900" kern="100" dirty="0" err="1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900" kern="10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186769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900" kern="100" spc="-7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708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 dirty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cap="small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Б</a:t>
                      </a:r>
                      <a:r>
                        <a:rPr lang="en-US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900" kern="100" spc="-15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 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solidFill>
                          <a:srgbClr val="0070C0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0:20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0:05:12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0:02:23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spc="-5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0:07:35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0:03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0:04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2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正常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2637155" algn="ctr"/>
                          <a:tab pos="5274310" algn="r"/>
                        </a:tabLst>
                        <a:defRPr/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8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1:16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CN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1:38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0:50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en-US" sz="900" kern="100" dirty="0" smtClean="0">
                          <a:solidFill>
                            <a:srgbClr val="449644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0:55</a:t>
                      </a: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76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+mn-lt"/>
                          <a:ea typeface="+mn-ea"/>
                          <a:cs typeface="Times New Roman" panose="02020603050405020304"/>
                        </a:rPr>
                        <a:t>小结</a:t>
                      </a:r>
                      <a:endParaRPr lang="zh-CN" altLang="en-US" sz="1000" kern="100" dirty="0" smtClean="0">
                        <a:latin typeface="+mn-lt"/>
                        <a:ea typeface="+mn-ea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算出在厂工作时间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424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r>
                        <a:rPr lang="zh-CN" altLang="en-US" sz="1000" kern="100" dirty="0" smtClean="0"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算出所有工作时间</a:t>
                      </a: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en-US" sz="900" kern="100" dirty="0">
                        <a:solidFill>
                          <a:srgbClr val="449644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  <a:tabLst>
                          <a:tab pos="266700" algn="l"/>
                          <a:tab pos="2637155" algn="ctr"/>
                          <a:tab pos="5274310" algn="r"/>
                        </a:tabLst>
                      </a:pPr>
                      <a:endParaRPr lang="zh-CN" sz="1000" kern="100" dirty="0"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9513" y="1556792"/>
          <a:ext cx="8856983" cy="4807585"/>
        </p:xfrm>
        <a:graphic>
          <a:graphicData uri="http://schemas.openxmlformats.org/drawingml/2006/table">
            <a:tbl>
              <a:tblPr firstRow="1" firstCol="1" bandRow="1"/>
              <a:tblGrid>
                <a:gridCol w="732185"/>
                <a:gridCol w="672937"/>
                <a:gridCol w="684163"/>
                <a:gridCol w="684163"/>
                <a:gridCol w="754943"/>
                <a:gridCol w="792088"/>
                <a:gridCol w="792088"/>
                <a:gridCol w="936104"/>
                <a:gridCol w="864096"/>
                <a:gridCol w="864096"/>
                <a:gridCol w="1080120"/>
              </a:tblGrid>
              <a:tr h="1116450">
                <a:tc row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日期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发动机启动次数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</a:t>
                      </a:r>
                      <a:r>
                        <a:rPr lang="zh-CN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地面</a:t>
                      </a: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和飞行</a:t>
                      </a:r>
                      <a:r>
                        <a:rPr lang="zh-CN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工作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持续时间（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发动机飞行工作持续时间（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发动机中间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加力状态工作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累计（地面中间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加力状态的工作按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100%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考虑（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发动机全部状态工作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时间累计（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485783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状态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558224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Б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+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УБ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2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六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七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八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九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十一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2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2012.12.15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0:15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2:41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0:05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1:27:38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10:47:22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12:15:00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9:33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120:44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83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月结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15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2:12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9:36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2:53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38:42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2:23:57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3:42:21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5:06:09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4:12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46:33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83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总结</a:t>
                      </a:r>
                      <a:endParaRPr lang="en-US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3098" marR="630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47664" y="476672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WS-10</a:t>
            </a:r>
            <a:r>
              <a:rPr lang="zh-CN" altLang="en-US" dirty="0" smtClean="0"/>
              <a:t>发动机履历本（</a:t>
            </a:r>
            <a:r>
              <a:rPr lang="en-US" altLang="zh-CN" dirty="0" smtClean="0">
                <a:solidFill>
                  <a:srgbClr val="FF0000"/>
                </a:solidFill>
              </a:rPr>
              <a:t>11B</a:t>
            </a:r>
            <a:r>
              <a:rPr lang="zh-CN" altLang="en-US" dirty="0" smtClean="0">
                <a:solidFill>
                  <a:srgbClr val="FF0000"/>
                </a:solidFill>
              </a:rPr>
              <a:t>数据来源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7200" y="2276872"/>
          <a:ext cx="8363271" cy="3384375"/>
        </p:xfrm>
        <a:graphic>
          <a:graphicData uri="http://schemas.openxmlformats.org/drawingml/2006/table">
            <a:tbl>
              <a:tblPr firstRow="1" firstCol="1" bandRow="1"/>
              <a:tblGrid>
                <a:gridCol w="1076186"/>
                <a:gridCol w="1821602"/>
                <a:gridCol w="1821602"/>
                <a:gridCol w="1821602"/>
                <a:gridCol w="1822279"/>
              </a:tblGrid>
              <a:tr h="145618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日期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）起动次数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）工作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总时间（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）飞行中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工作时间（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 dirty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外置飞机附件传动机匣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JJX-1.00.1960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）地面工作时间（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h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en-US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min</a:t>
                      </a:r>
                      <a:r>
                        <a:rPr lang="zh-CN" sz="1000" kern="10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）</a:t>
                      </a:r>
                      <a:endParaRPr lang="zh-CN" sz="1000" kern="10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19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一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二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三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四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altLang="en-US" sz="1000" kern="1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五</a:t>
                      </a:r>
                      <a:endParaRPr lang="zh-CN" sz="1000" kern="100" dirty="0">
                        <a:solidFill>
                          <a:srgbClr val="0070C0"/>
                        </a:solidFill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393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2014.03.05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31:19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2:24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0:21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…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月结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44:42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23:46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6:06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endParaRPr lang="en-US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15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 </a:t>
                      </a:r>
                      <a:endParaRPr lang="zh-CN" sz="100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4340" marR="64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87824" y="1340188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外置飞机附件传动机匣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飞机本 发动机本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 smtClean="0"/>
              <a:t>选择飞机号 左右发 </a:t>
            </a:r>
            <a:endParaRPr lang="en-US" altLang="zh-CN" dirty="0" smtClean="0"/>
          </a:p>
          <a:p>
            <a:r>
              <a:rPr lang="zh-CN" altLang="en-US" dirty="0" smtClean="0"/>
              <a:t>选择填写方式 </a:t>
            </a:r>
            <a:r>
              <a:rPr lang="en-US" altLang="zh-CN" dirty="0" smtClean="0"/>
              <a:t>1 2 3 4 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28596" y="908720"/>
            <a:ext cx="8229600" cy="2605925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092389"/>
            <a:ext cx="9144000" cy="3765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14282" y="548680"/>
            <a:ext cx="8229600" cy="3519208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88378"/>
            <a:ext cx="9144000" cy="4069622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smtClean="0">
                <a:solidFill>
                  <a:srgbClr val="FF0000"/>
                </a:solidFill>
              </a:rPr>
              <a:t>Word</a:t>
            </a:r>
            <a:r>
              <a:rPr lang="zh-CN" altLang="en-US" sz="200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7158" y="0"/>
            <a:ext cx="8229600" cy="3136665"/>
          </a:xfr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781300"/>
            <a:ext cx="83312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 txBox="1"/>
          <p:nvPr/>
        </p:nvSpPr>
        <p:spPr>
          <a:xfrm>
            <a:off x="457200" y="116632"/>
            <a:ext cx="8229600" cy="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428596" y="357166"/>
            <a:ext cx="8477250" cy="402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7158" y="142852"/>
            <a:ext cx="8229600" cy="4114800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85992"/>
            <a:ext cx="9144000" cy="4354286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smtClean="0">
                <a:solidFill>
                  <a:srgbClr val="FF0000"/>
                </a:solidFill>
              </a:rPr>
              <a:t>Word</a:t>
            </a:r>
            <a:r>
              <a:rPr lang="zh-CN" altLang="en-US" sz="200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3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57158" y="0"/>
            <a:ext cx="8229600" cy="3986213"/>
          </a:xfrm>
        </p:spPr>
      </p:pic>
      <p:pic>
        <p:nvPicPr>
          <p:cNvPr id="4" name="图片 3" descr="捕获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3835682"/>
            <a:ext cx="6786578" cy="3022318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57200" y="404664"/>
            <a:ext cx="822960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smtClean="0">
                <a:solidFill>
                  <a:srgbClr val="FF0000"/>
                </a:solidFill>
              </a:rPr>
              <a:t>Word</a:t>
            </a:r>
            <a:r>
              <a:rPr lang="zh-CN" altLang="en-US" sz="200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 descr="捕获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457200" y="1919555"/>
            <a:ext cx="8229600" cy="3887253"/>
          </a:xfrm>
        </p:spPr>
      </p:pic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br>
              <a:rPr lang="en-US" altLang="zh-CN" sz="2000" dirty="0" smtClean="0">
                <a:solidFill>
                  <a:srgbClr val="FF0000"/>
                </a:solidFill>
              </a:rPr>
            </a:br>
            <a:r>
              <a:rPr lang="en-US" altLang="zh-CN" sz="2000" dirty="0" smtClean="0">
                <a:solidFill>
                  <a:srgbClr val="FF0000"/>
                </a:solidFill>
              </a:rPr>
              <a:t>PPT17</a:t>
            </a:r>
            <a:r>
              <a:rPr lang="zh-CN" altLang="en-US" sz="2000" dirty="0" smtClean="0">
                <a:solidFill>
                  <a:srgbClr val="FF0000"/>
                </a:solidFill>
              </a:rPr>
              <a:t>页</a:t>
            </a:r>
            <a:r>
              <a:rPr lang="en-US" altLang="zh-CN" sz="2000" dirty="0" smtClean="0">
                <a:solidFill>
                  <a:srgbClr val="FF0000"/>
                </a:solidFill>
              </a:rPr>
              <a:t>-25</a:t>
            </a:r>
            <a:r>
              <a:rPr lang="zh-CN" altLang="en-US" sz="2000" dirty="0" smtClean="0">
                <a:solidFill>
                  <a:srgbClr val="FF0000"/>
                </a:solidFill>
              </a:rPr>
              <a:t>页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日期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检查内容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检查人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检查结果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7030A0"/>
                          </a:solidFill>
                        </a:rPr>
                        <a:t>备注</a:t>
                      </a:r>
                      <a:endParaRPr lang="zh-CN" alt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进站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定期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定期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飞行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转场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04056"/>
          </a:xfrm>
        </p:spPr>
        <p:txBody>
          <a:bodyPr>
            <a:norm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</a:rPr>
              <a:t>Word</a:t>
            </a:r>
            <a:r>
              <a:rPr lang="zh-CN" altLang="en-US" sz="2000" dirty="0" smtClean="0">
                <a:solidFill>
                  <a:srgbClr val="FF0000"/>
                </a:solidFill>
              </a:rPr>
              <a:t>描述中暂未涉及此部分，暂时可忽略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23535" y="1052738"/>
          <a:ext cx="8640960" cy="432140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  <a:gridCol w="576064"/>
              </a:tblGrid>
              <a:tr h="780086">
                <a:tc rowSpan="2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年月日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当日启动次数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当日地面工作时间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当日空中工作时间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当日</a:t>
                      </a:r>
                      <a:r>
                        <a:rPr lang="en-US" altLang="zh-CN" sz="1100" dirty="0" smtClean="0">
                          <a:solidFill>
                            <a:srgbClr val="0070C0"/>
                          </a:solidFill>
                        </a:rPr>
                        <a:t>20%</a:t>
                      </a:r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地面</a:t>
                      </a:r>
                      <a:r>
                        <a:rPr lang="en-US" altLang="zh-CN" sz="1100" dirty="0" smtClean="0">
                          <a:solidFill>
                            <a:srgbClr val="0070C0"/>
                          </a:solidFill>
                        </a:rPr>
                        <a:t>+</a:t>
                      </a:r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空中工作时间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累计工作时间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累计启动次数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8008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起飞状态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额定状态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共计</a:t>
                      </a:r>
                      <a:endParaRPr lang="en-US" altLang="zh-CN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时：分</a:t>
                      </a:r>
                      <a:endParaRPr lang="zh-CN" altLang="en-US" sz="11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94528"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一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二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三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四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五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六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七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八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九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十一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十二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十三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十四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>
                          <a:solidFill>
                            <a:srgbClr val="0070C0"/>
                          </a:solidFill>
                        </a:rPr>
                        <a:t>十五</a:t>
                      </a:r>
                      <a:endParaRPr lang="zh-CN" altLang="en-US" sz="11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594528"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2021.06.08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0:09:01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0:40:00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0:03:14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0:14:55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0:41:49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16:13:15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24:10:09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234:38:20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237</a:t>
                      </a:r>
                      <a:endParaRPr lang="zh-CN" altLang="en-US" sz="1100" dirty="0"/>
                    </a:p>
                  </a:txBody>
                  <a:tcPr/>
                </a:tc>
              </a:tr>
              <a:tr h="534522"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月结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0:37:14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3:39:52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</a:t>
                      </a:r>
                      <a:r>
                        <a:rPr lang="zh-CN" altLang="en-US" sz="1100" dirty="0" smtClean="0"/>
                        <a:t>：</a:t>
                      </a:r>
                      <a:r>
                        <a:rPr lang="en-US" altLang="zh-CN" sz="1100" dirty="0" smtClean="0"/>
                        <a:t>12:05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0:44:47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3</a:t>
                      </a:r>
                      <a:r>
                        <a:rPr lang="zh-CN" altLang="en-US" sz="1100" dirty="0" smtClean="0"/>
                        <a:t>：</a:t>
                      </a:r>
                      <a:r>
                        <a:rPr lang="en-US" altLang="zh-CN" sz="1100" dirty="0" smtClean="0"/>
                        <a:t>47:20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16:13:15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24:10:09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234:38:20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237</a:t>
                      </a:r>
                      <a:endParaRPr lang="zh-CN" altLang="en-US" sz="1100" dirty="0"/>
                    </a:p>
                  </a:txBody>
                  <a:tcPr/>
                </a:tc>
              </a:tr>
              <a:tr h="545598"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2021.06.10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0:01:05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0:01:00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0:15:52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0:03:10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16:14:20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24:11:09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234:41:30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 smtClean="0"/>
                        <a:t>238</a:t>
                      </a:r>
                      <a:endParaRPr lang="zh-CN" altLang="en-US" sz="1100" dirty="0"/>
                    </a:p>
                  </a:txBody>
                  <a:tcPr/>
                </a:tc>
              </a:tr>
              <a:tr h="342502"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一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二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三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四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五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六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七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八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九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十一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十二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十三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十四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dirty="0" smtClean="0"/>
                        <a:t>十五</a:t>
                      </a:r>
                      <a:endParaRPr lang="zh-CN" alt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35696" y="404664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                     教</a:t>
            </a:r>
            <a:r>
              <a:rPr lang="en-US" altLang="zh-CN" dirty="0" smtClean="0"/>
              <a:t>8</a:t>
            </a:r>
            <a:r>
              <a:rPr lang="zh-CN" altLang="en-US" dirty="0" smtClean="0"/>
              <a:t>发动机时间计算</a:t>
            </a:r>
            <a:r>
              <a:rPr lang="zh-CN" altLang="en-US" dirty="0" smtClean="0">
                <a:solidFill>
                  <a:srgbClr val="FF0000"/>
                </a:solidFill>
              </a:rPr>
              <a:t>（教</a:t>
            </a:r>
            <a:r>
              <a:rPr lang="en-US" altLang="zh-CN" dirty="0" smtClean="0">
                <a:solidFill>
                  <a:srgbClr val="FF0000"/>
                </a:solidFill>
              </a:rPr>
              <a:t>8</a:t>
            </a:r>
            <a:r>
              <a:rPr lang="zh-CN" altLang="en-US" dirty="0" smtClean="0">
                <a:solidFill>
                  <a:srgbClr val="FF0000"/>
                </a:solidFill>
              </a:rPr>
              <a:t>数据来源）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5743" y="476672"/>
          <a:ext cx="9020752" cy="6192686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  <a:gridCol w="563797"/>
              </a:tblGrid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日期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地面持续工作时间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空中持续工作时间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累计时间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rowSpan="2" hMerge="1"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启动次数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全部时间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最大状态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加力状态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全部时间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最大状态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0070C0"/>
                          </a:solidFill>
                        </a:rPr>
                        <a:t>加力状态</a:t>
                      </a:r>
                      <a:endParaRPr lang="zh-CN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</a:tr>
              <a:tr h="766318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小时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分</a:t>
                      </a:r>
                      <a:endParaRPr lang="zh-CN" altLang="en-US" sz="1400" dirty="0" smtClean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663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一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二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三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四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五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六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七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八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九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十一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十二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十三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十四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十五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rgbClr val="0070C0"/>
                          </a:solidFill>
                        </a:rPr>
                        <a:t>十六</a:t>
                      </a:r>
                      <a:endParaRPr lang="zh-CN" alt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2021.01.29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1+1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69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2021.01.29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0′22″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0′27″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33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/>
                        <a:t>月结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8+2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01′19″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0′55″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05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53′45″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smtClean="0"/>
                        <a:t>16′29″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34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38</a:t>
                      </a:r>
                      <a:endParaRPr lang="zh-CN" altLang="en-US" sz="1000" dirty="0"/>
                    </a:p>
                  </a:txBody>
                  <a:tcPr/>
                </a:tc>
              </a:tr>
              <a:tr h="776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2021.02.01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15+2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01′10″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32″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70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49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/>
                        <a:t>1</a:t>
                      </a:r>
                      <a:endParaRPr lang="zh-CN" altLang="en-US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1760" y="10734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          教九时间计算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</a:rPr>
              <a:t>教</a:t>
            </a:r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r>
              <a:rPr lang="zh-CN" altLang="en-US" dirty="0" smtClean="0">
                <a:solidFill>
                  <a:srgbClr val="FF0000"/>
                </a:solidFill>
              </a:rPr>
              <a:t>数据来源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3c0894c6-52a4-4887-8b21-5cc4629d72ed}"/>
</p:tagLst>
</file>

<file path=ppt/tags/tag2.xml><?xml version="1.0" encoding="utf-8"?>
<p:tagLst xmlns:p="http://schemas.openxmlformats.org/presentationml/2006/main">
  <p:tag name="KSO_WM_UNIT_TABLE_BEAUTIFY" val="smartTable{679c193b-0142-4129-9dda-141ca1daf14b}"/>
</p:tagLst>
</file>

<file path=ppt/tags/tag3.xml><?xml version="1.0" encoding="utf-8"?>
<p:tagLst xmlns:p="http://schemas.openxmlformats.org/presentationml/2006/main">
  <p:tag name="KSO_WM_UNIT_TABLE_BEAUTIFY" val="smartTable{592cc537-86f5-476e-a2f7-ba10718bf808}"/>
</p:tagLst>
</file>

<file path=ppt/tags/tag4.xml><?xml version="1.0" encoding="utf-8"?>
<p:tagLst xmlns:p="http://schemas.openxmlformats.org/presentationml/2006/main">
  <p:tag name="KSO_WM_UNIT_TABLE_BEAUTIFY" val="smartTable{763ad15c-2831-4451-ab90-7c12e887e4b7}"/>
</p:tagLst>
</file>

<file path=ppt/tags/tag5.xml><?xml version="1.0" encoding="utf-8"?>
<p:tagLst xmlns:p="http://schemas.openxmlformats.org/presentationml/2006/main">
  <p:tag name="KSO_WM_UNIT_TABLE_BEAUTIFY" val="smartTable{fc90dad1-c672-4dea-b58d-f6bed524bcf6}"/>
</p:tagLst>
</file>

<file path=ppt/tags/tag6.xml><?xml version="1.0" encoding="utf-8"?>
<p:tagLst xmlns:p="http://schemas.openxmlformats.org/presentationml/2006/main">
  <p:tag name="KSO_WM_UNIT_TABLE_BEAUTIFY" val="smartTable{f13402c3-66dd-46a3-aa88-11bdc7132c00}"/>
</p:tagLst>
</file>

<file path=ppt/tags/tag7.xml><?xml version="1.0" encoding="utf-8"?>
<p:tagLst xmlns:p="http://schemas.openxmlformats.org/presentationml/2006/main">
  <p:tag name="KSO_WM_UNIT_TABLE_BEAUTIFY" val="smartTable{1481fcbf-3f32-4f52-990f-c8b88d6f4bf5}"/>
</p:tagLst>
</file>

<file path=ppt/tags/tag8.xml><?xml version="1.0" encoding="utf-8"?>
<p:tagLst xmlns:p="http://schemas.openxmlformats.org/presentationml/2006/main">
  <p:tag name="KSO_WM_UNIT_TABLE_BEAUTIFY" val="smartTable{5dd4283b-b7c1-4a18-86ae-005b1679d6a7}"/>
</p:tagLst>
</file>

<file path=ppt/tags/tag9.xml><?xml version="1.0" encoding="utf-8"?>
<p:tagLst xmlns:p="http://schemas.openxmlformats.org/presentationml/2006/main">
  <p:tag name="KSO_WM_UNIT_TABLE_BEAUTIFY" val="smartTable{40c522f6-e012-4ab3-815a-7990c22dd612}"/>
</p:tagLst>
</file>

<file path=ppt/tags/tag10.xml><?xml version="1.0" encoding="utf-8"?>
<p:tagLst xmlns:p="http://schemas.openxmlformats.org/presentationml/2006/main">
  <p:tag name="KSO_WM_UNIT_TABLE_BEAUTIFY" val="smartTable{5c0eb510-ed04-408b-85d0-96880d032787}"/>
</p:tagLst>
</file>

<file path=ppt/tags/tag11.xml><?xml version="1.0" encoding="utf-8"?>
<p:tagLst xmlns:p="http://schemas.openxmlformats.org/presentationml/2006/main">
  <p:tag name="KSO_WM_UNIT_TABLE_BEAUTIFY" val="smartTable{e61cbc91-dd18-40dc-8f1e-6d62a8dc44b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10477</Words>
  <Application>WPS 演示</Application>
  <PresentationFormat>全屏显示(4:3)</PresentationFormat>
  <Paragraphs>3073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黑体</vt:lpstr>
      <vt:lpstr>Times New Roman</vt:lpstr>
      <vt:lpstr>微软雅黑</vt:lpstr>
      <vt:lpstr>Arial Unicode MS</vt:lpstr>
      <vt:lpstr>Office 主题</vt:lpstr>
      <vt:lpstr>发动机信息管理     					用户名                                                                            密码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飞机本 发动机本 </vt:lpstr>
      <vt:lpstr>Word描述中暂未涉及此部分，暂时可忽略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Word描述中暂未涉及此部分，暂时可忽略</vt:lpstr>
      <vt:lpstr>Word描述中暂未涉及此部分，暂时可忽略 PPT17页-25页</vt:lpstr>
      <vt:lpstr>Word描述中暂未涉及此部分，暂时可忽略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发动机信息管理        用户名                                                                            密码</dc:title>
  <dc:creator>Administrator</dc:creator>
  <cp:lastModifiedBy>good</cp:lastModifiedBy>
  <cp:revision>109</cp:revision>
  <dcterms:created xsi:type="dcterms:W3CDTF">2021-06-23T04:10:00Z</dcterms:created>
  <dcterms:modified xsi:type="dcterms:W3CDTF">2021-12-03T03:12:49Z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D10FEC20D485428EA5BF4756A2E70DC2</vt:lpwstr>
  </property>
  <property fmtid="{D5CDD505-2E9C-101B-9397-08002B2CF9AE}" pid="3" name="KSOProductBuildVer">
    <vt:lpwstr>2052-11.1.0.11035</vt:lpwstr>
  </property>
</Properties>
</file>